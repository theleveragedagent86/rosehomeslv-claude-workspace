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25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spc="3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EXPIRED LISTING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spc="200" kern="0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MULTI-CHANNEL CAMPAIGN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2194560"/>
            <a:ext cx="2743200" cy="0"/>
          </a:xfrm>
          <a:prstGeom prst="line">
            <a:avLst/>
          </a:prstGeom>
          <a:noFill/>
          <a:ln w="25400">
            <a:solidFill>
              <a:srgbClr val="8B25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468880"/>
            <a:ext cx="1828800" cy="100584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5146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435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Expired Contacts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0" y="2468880"/>
            <a:ext cx="1828800" cy="100584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25146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$370K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743200" y="3017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List Price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2468880"/>
            <a:ext cx="1828800" cy="100584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25146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54880" y="3017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Days on Market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66560" y="2468880"/>
            <a:ext cx="1828800" cy="100584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0" y="25146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766560" y="3017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 Versions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38404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Mail + Digital Ads + Phone/Text Follow-Up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44805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 Homes LV  |  February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25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EXPIRED LISTING AUDIENCE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2377440" cy="2194560"/>
          </a:xfrm>
          <a:prstGeom prst="rect">
            <a:avLst/>
          </a:prstGeom>
          <a:solidFill>
            <a:srgbClr val="F5F0E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05840"/>
            <a:ext cx="2377440" cy="54864"/>
          </a:xfrm>
          <a:prstGeom prst="rect">
            <a:avLst/>
          </a:prstGeom>
          <a:solidFill>
            <a:srgbClr val="8B250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Location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50876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Vegas: 324 (74%)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Henderson: 67 (15%)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 Las Vegas: 44 (10%)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005840"/>
            <a:ext cx="2377440" cy="2194560"/>
          </a:xfrm>
          <a:prstGeom prst="rect">
            <a:avLst/>
          </a:prstGeom>
          <a:solidFill>
            <a:srgbClr val="F5F0E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1005840"/>
            <a:ext cx="2377440" cy="54864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0972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Price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20440" y="150876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$300K: 177 (41%)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$300K–$500K: 129 (30%)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$500K–$750K: 80 (18%)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$750K+: 49 (11%)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005840"/>
            <a:ext cx="2377440" cy="2194560"/>
          </a:xfrm>
          <a:prstGeom prst="rect">
            <a:avLst/>
          </a:prstGeom>
          <a:solidFill>
            <a:srgbClr val="F5F0E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1005840"/>
            <a:ext cx="2377440" cy="54864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0" y="10972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Stats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72200" y="150876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Residential: 329 (76%)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Rental: 107 (24%)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DOM: 134 days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expired: Jan 2026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429000"/>
            <a:ext cx="7680960" cy="1280160"/>
          </a:xfrm>
          <a:prstGeom prst="rect">
            <a:avLst/>
          </a:prstGeom>
          <a:solidFill>
            <a:srgbClr val="FFF8E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429000"/>
            <a:ext cx="73152" cy="128016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520440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3794760"/>
            <a:ext cx="7223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homeowners sat on the market a median of 134 days before their listing expired. They’re frustrated, skeptical of agents, and being bombarded with cold calls. Your direct mail + digital strategy needs to stand out by leading with value (the Home Sale Diagnostic), not a sales pitch. The multi-touch approach—mail, then digital, then personal follow-up—builds trust over time.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25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MULTI-CHANNEL STRATEGY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2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 hits first. Digital reinforces. Phone closes.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2011680" cy="3291840"/>
          </a:xfrm>
          <a:prstGeom prst="rect">
            <a:avLst/>
          </a:prstGeom>
          <a:solidFill>
            <a:srgbClr val="F5F0E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34440"/>
            <a:ext cx="2011680" cy="54864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3258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E44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 MAIL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6002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Touchpoint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1737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letter versions (already printed)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Sale Diagnostic offer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to landing page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Mailed to all 435 contacts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14600" y="1234440"/>
            <a:ext cx="2011680" cy="3291840"/>
          </a:xfrm>
          <a:prstGeom prst="rect">
            <a:avLst/>
          </a:prstGeom>
          <a:solidFill>
            <a:srgbClr val="F5F0E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14600" y="1234440"/>
            <a:ext cx="2011680" cy="5486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2" name="Text 10"/>
          <p:cNvSpPr/>
          <p:nvPr/>
        </p:nvSpPr>
        <p:spPr>
          <a:xfrm>
            <a:off x="2514600" y="13258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980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ADS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14600" y="16002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Touchpoint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51760" y="1965960"/>
            <a:ext cx="1737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custom audience from mailing list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Google: expired listing keywords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Retarget landing page visitors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 mail message online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09160" y="1234440"/>
            <a:ext cx="2011680" cy="3291840"/>
          </a:xfrm>
          <a:prstGeom prst="rect">
            <a:avLst/>
          </a:prstGeom>
          <a:solidFill>
            <a:srgbClr val="F5F0E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1234440"/>
            <a:ext cx="201168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7" name="Text 15"/>
          <p:cNvSpPr/>
          <p:nvPr/>
        </p:nvSpPr>
        <p:spPr>
          <a:xfrm>
            <a:off x="4709160" y="13258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PHONE/TEXT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09160" y="16002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Touchpoint 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1965960"/>
            <a:ext cx="1737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3–5 days after mail lands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“HELP” follow-up for non-responders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423 contacts have phone numbers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mirrors letter messaging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03720" y="1234440"/>
            <a:ext cx="2011680" cy="3291840"/>
          </a:xfrm>
          <a:prstGeom prst="rect">
            <a:avLst/>
          </a:prstGeom>
          <a:solidFill>
            <a:srgbClr val="F5F0E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03720" y="1234440"/>
            <a:ext cx="2011680" cy="54864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22" name="Text 20"/>
          <p:cNvSpPr/>
          <p:nvPr/>
        </p:nvSpPr>
        <p:spPr>
          <a:xfrm>
            <a:off x="6903720" y="13258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0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RETARGETING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03720" y="16002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040880" y="1965960"/>
            <a:ext cx="1737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landing page visitors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viewers (50%+)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form openers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Testimonials + social proof ads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2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3–5 touchpoints per contact within 30 days. Research shows it takes 7+ touches to convert a seller lead.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25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36576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ADS: META (FACEBOOK/INSTAGRAM)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960120"/>
            <a:ext cx="3657600" cy="2011680"/>
          </a:xfrm>
          <a:prstGeom prst="rect">
            <a:avLst/>
          </a:prstGeom>
          <a:solidFill>
            <a:srgbClr val="F5F0E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960120"/>
            <a:ext cx="73152" cy="201168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005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 Audience Upload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137160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your 435-contact mailing list to Meta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on: name + address + phone + ZIP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match rate: 40–60% (~175–260 people)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Ad Category: Housing required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people will see your ads right after receiving your letter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3657600" cy="2011680"/>
          </a:xfrm>
          <a:prstGeom prst="rect">
            <a:avLst/>
          </a:prstGeom>
          <a:solidFill>
            <a:srgbClr val="F5F0E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60120"/>
            <a:ext cx="73152" cy="2011680"/>
          </a:xfrm>
          <a:prstGeom prst="rect">
            <a:avLst/>
          </a:prstGeom>
          <a:solidFill>
            <a:srgbClr val="1877F2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005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Campaign Structure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0" y="137160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1: Custom Audience (letter recipients)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Video (you on camera) + carousel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Message: mirrors the letter — Home Sale Diagnostic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2: Retargeting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QR landing page visitors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Message: testimonials + “still thinking about selling?”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1546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Meta Ad Copy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1520" y="3520440"/>
            <a:ext cx="7680960" cy="137160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5661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Text: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home didn’t sell. That doesn’t mean it can’t. After reviewing hundreds of expired listings in Las Vegas, I found that most share the same 3 fixable problems. I put together a free Home Sale Diagnostic that shows exactly what went wrong and what I’d do differently. No sales pitch — just an honest second opinion. Click below to see yours.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4400" y="4251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Headline: </a:t>
            </a:r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Home Didn’t Sell — Here’s Why  |  </a:t>
            </a:r>
            <a:pPr indent="0" marL="0">
              <a:buNone/>
            </a:pPr>
            <a:r>
              <a:rPr lang="en-US" sz="10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</a:t>
            </a:r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Home Sale Diagnostic • No Obligation  |  </a:t>
            </a:r>
            <a:pPr indent="0" marL="0">
              <a:buNone/>
            </a:pPr>
            <a:r>
              <a:rPr lang="en-US" sz="10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CTA: </a:t>
            </a:r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More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25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3657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ADS: GOOGLE SEARCH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homeowners actively searching for help after their listing expired.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 Keywords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54480"/>
          <a:ext cx="38404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Keyword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Intent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"my house didn't sell"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High — frustrated seller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"expired listing help Las Vegas"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High — seeking new agent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"why didn't my house sell"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High — wants answers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"relist my home Las Vegas"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High — ready to act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"best realtor Las Vegas"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Medium — agent shopping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"sell my house fast Las Vegas"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High — urgency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"home value estimate Las Vegas"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Medium — considering options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754880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Responsive Search Ad</a:t>
            </a:r>
            <a:endParaRPr lang="en-US" sz="15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554480"/>
          <a:ext cx="3657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92608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Element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Copy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H1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Home Didn’t Sell? I Can Help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H2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Free Home Sale Diagnostic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H3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Las Vegas Expired Listing Expert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H4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150+ Homes Sold — 8 Year Track Record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H5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See Why It Didn’t Sell — Free Review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D1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Your listing expired. That doesn’t mean it can’t sell. Get a free diagnosis of what went wrong.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D2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No pressure, no BS. Just an honest look at why it didn’t sell and what I’d do differently.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31520" y="42062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Keywords: rent, rental, apartment, commercial, agent jobs, realtor salary, real estate license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731520" y="45262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Las Vegas, Henderson, North Las Vegas  |  Schedule: 6 AM–10 PM  |  Bidding: Maximize Clicks (CPC cap $4)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25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30-DAY CAMPAIGN TIMELINE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7680960" cy="86868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960120"/>
            <a:ext cx="73152" cy="86868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960120"/>
            <a:ext cx="1097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44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011680" y="10058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1–2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108960" y="100584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 drops: letters hit mailboxes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011680" y="12801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108960" y="128016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Meta custom audience ads (same day as mail)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011680" y="15544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108960" y="155448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Google Search expired listing keywords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1965960"/>
            <a:ext cx="7680960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1965960"/>
            <a:ext cx="73152" cy="86868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1965960"/>
            <a:ext cx="1097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011680" y="20116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5–7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108960" y="201168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follow-up: call contacts who received mail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011680" y="22860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108960" y="22860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follow-up to non-responders: "Hey [Name], I mailed you about your home..."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011680" y="25603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108960" y="256032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ad performance, adjust bids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2971800"/>
            <a:ext cx="7680960" cy="86868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" y="2971800"/>
            <a:ext cx="73152" cy="86868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2971800"/>
            <a:ext cx="1097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0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011680" y="3017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108960" y="301752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retargeting ads to QR landing page visitors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011680" y="32918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108960" y="329184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mail drop (for top prospects who haven’t responded)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011680" y="35661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15–17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108960" y="356616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phone call round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31520" y="3977640"/>
            <a:ext cx="7680960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731520" y="3977640"/>
            <a:ext cx="73152" cy="86868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33" name="Text 31"/>
          <p:cNvSpPr/>
          <p:nvPr/>
        </p:nvSpPr>
        <p:spPr>
          <a:xfrm>
            <a:off x="914400" y="3977640"/>
            <a:ext cx="1097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80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4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011680" y="40233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21–28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108960" y="402336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Retargeting with testimonial/social proof creative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011680" y="42976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108960" y="429768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text outreach to remaining non-responders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011680" y="45720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30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108960" y="45720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campaign review: leads, appointments, listings signed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2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each contact should receive 3–5 touchpoints (mail + ad + call/text) within 30 days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25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PHONE &amp; TEXT FOLLOW-UP SCRIPTS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3657600" cy="3291840"/>
          </a:xfrm>
          <a:prstGeom prst="rect">
            <a:avLst/>
          </a:prstGeom>
          <a:solidFill>
            <a:srgbClr val="F5F0E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914400"/>
            <a:ext cx="73152" cy="32918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9601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Phone Script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32588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"Hi [Name], this is Ryan with Rose Homes. I mailed you something earlier this week about your home on [Street]. I’m not calling to pitch you — I know you’re probably getting a lot of that right now.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put together a free breakdown of what I think happened and what I’d do differently. Did you get a chance to look at it?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[If yes]: Great. What stood out to you?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[If no]: No worries. The short version is I found [X] things the previous listing was missing that top-selling homes in your area use. Can I walk you through it in 10 minutes?"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3657600" cy="3291840"/>
          </a:xfrm>
          <a:prstGeom prst="rect">
            <a:avLst/>
          </a:prstGeom>
          <a:solidFill>
            <a:srgbClr val="F5F0E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14400"/>
            <a:ext cx="73152" cy="32918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9601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Text Message Scripts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32588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1 (Day 5–7):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"Hi [Name], this is Ryan Rose. I mailed you about your home on [Street] that recently came off the market. I put together a free breakdown of what happened. No sales pitch. Want me to send it over?"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2 (Day 14):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"Hey [Name] — just checking in. The market data for your area has been interesting lately. Happy to share what I’m seeing if you’re still thinking about selling. No pressure either way."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3 (Day 25):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"Hi [Name], last note from me. If you ever want a second opinion on what happened with your listing, the offer stands. I’m here if you need anything. — Ryan"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31520" y="4389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423 of 435 contacts have phone numbers. Prioritize residential sellers (329 contacts) over rental listings.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25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RESULTS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914400"/>
          <a:ext cx="76809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463040"/>
                <a:gridCol w="1463040"/>
                <a:gridCol w="1463040"/>
                <a:gridCol w="14630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Direct Mail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Digital Ads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Phone/Text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Combined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Contacts Reached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435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175–260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329+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435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Response Rate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1–3%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2–5%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5–10%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5–12%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Expected Responses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4–13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5–13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16–33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25–55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Listing Appointments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1–3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1–3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3–8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5–14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Listings Signed (est.)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</a:rPr>
                        <a:t>2–5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32918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ROI Potential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31520" y="3657600"/>
            <a:ext cx="7680960" cy="109728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1520" y="3657600"/>
            <a:ext cx="73152" cy="10972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8" name="Text 5"/>
          <p:cNvSpPr/>
          <p:nvPr/>
        </p:nvSpPr>
        <p:spPr>
          <a:xfrm>
            <a:off x="1005840" y="3703320"/>
            <a:ext cx="7223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sign just 2 listings at the median $370K price: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3% commission = $11,100 per side × 2 = $22,200 in gross commission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cost (mail + digital): estimated $500–$1,500 total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ROI: 15–44x return on ad spend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25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2286000" cy="0"/>
          </a:xfrm>
          <a:prstGeom prst="line">
            <a:avLst/>
          </a:prstGeom>
          <a:noFill/>
          <a:ln w="25400">
            <a:solidFill>
              <a:srgbClr val="8B25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5448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Upload mailing list to Meta as a Custom Audience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Create Meta ad campaign: custom audience + retargeting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Build Google Search campaign with expired listing keywords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Mail letters (already done ✓)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Launch digital ads same day mail drops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Start phone calls Days 5–7 after mail lands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Text follow-up for non-responders Day 7+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Week 3: retargeting + second mail drop for top prospects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 Homes LV  |  ryan@rosehomeslv.com  |  (702) 747-5921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Expired Listing Campaign — Multi-Channel Strategy</dc:title>
  <dc:subject>PptxGenJS Presentation</dc:subject>
  <dc:creator>Rose Homes LV</dc:creator>
  <cp:lastModifiedBy>Rose Homes LV</cp:lastModifiedBy>
  <cp:revision>1</cp:revision>
  <dcterms:created xsi:type="dcterms:W3CDTF">2026-02-22T08:44:54Z</dcterms:created>
  <dcterms:modified xsi:type="dcterms:W3CDTF">2026-02-22T08:44:54Z</dcterms:modified>
</cp:coreProperties>
</file>